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332720" cy="2011680"/>
          </a:xfrm>
          <a:prstGeom prst="rect">
            <a:avLst/>
          </a:prstGeom>
          <a:noFill/>
        </p:spPr>
        <p:txBody>
          <a:bodyPr wrap="square" anchor="t">
            <a:spAutoFit/>
          </a:bodyPr>
          <a:lstStyle/>
          <a:p>
            <a:pPr>
              <a:lnSpc>
                <a:spcPct val="115000"/>
              </a:lnSpc>
              <a:spcAft>
                <a:spcPts val="600"/>
              </a:spcAft>
            </a:pPr>
            <a:r>
              <a:rPr sz="4600" b="1" i="0">
                <a:solidFill>
                  <a:srgbClr val="1E293B"/>
                </a:solidFill>
                <a:latin typeface="Meiryo"/>
                <a:ea typeface="Meiryo"/>
                <a:cs typeface="Meiryo"/>
              </a:rPr>
              <a:t>【作品タイトル】</a:t>
            </a:r>
          </a:p>
          <a:p>
            <a:pPr>
              <a:lnSpc>
                <a:spcPct val="115000"/>
              </a:lnSpc>
              <a:spcAft>
                <a:spcPts val="1000"/>
              </a:spcAft>
            </a:pPr>
            <a:r>
              <a:rPr sz="2200" b="0" i="0">
                <a:solidFill>
                  <a:srgbClr val="2563EB"/>
                </a:solidFill>
                <a:latin typeface="Meiryo"/>
                <a:ea typeface="Meiryo"/>
                <a:cs typeface="Meiryo"/>
              </a:rPr>
              <a:t>Next.js（App Router）製 マルチテナント対応 タスク管理アプリ</a:t>
            </a:r>
          </a:p>
        </p:txBody>
      </p:sp>
      <p:sp>
        <p:nvSpPr>
          <p:cNvPr id="6" name="TextBox 5"/>
          <p:cNvSpPr txBox="1"/>
          <p:nvPr/>
        </p:nvSpPr>
        <p:spPr>
          <a:xfrm>
            <a:off x="914400" y="4480560"/>
            <a:ext cx="10058400" cy="1280160"/>
          </a:xfrm>
          <a:prstGeom prst="rect">
            <a:avLst/>
          </a:prstGeom>
          <a:noFill/>
        </p:spPr>
        <p:txBody>
          <a:bodyPr wrap="square" anchor="t">
            <a:spAutoFit/>
          </a:bodyPr>
          <a:lstStyle/>
          <a:p>
            <a:pPr>
              <a:lnSpc>
                <a:spcPct val="115000"/>
              </a:lnSpc>
              <a:spcAft>
                <a:spcPts val="800"/>
              </a:spcAft>
            </a:pPr>
            <a:r>
              <a:rPr sz="2200" b="0" i="0">
                <a:solidFill>
                  <a:srgbClr val="1E293B"/>
                </a:solidFill>
                <a:latin typeface="Meiryo"/>
                <a:ea typeface="Meiryo"/>
                <a:cs typeface="Meiryo"/>
              </a:rPr>
              <a:t>学生番号：【学生番号】</a:t>
            </a:r>
          </a:p>
          <a:p>
            <a:pPr>
              <a:lnSpc>
                <a:spcPct val="115000"/>
              </a:lnSpc>
              <a:spcAft>
                <a:spcPts val="1000"/>
              </a:spcAft>
            </a:pPr>
            <a:r>
              <a:rPr sz="2200" b="0" i="0">
                <a:solidFill>
                  <a:srgbClr val="1E293B"/>
                </a:solidFill>
                <a:latin typeface="Meiryo"/>
                <a:ea typeface="Meiryo"/>
                <a:cs typeface="Meiryo"/>
              </a:rPr>
              <a:t>氏名　　：【氏名】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nchor="t">
            <a:spAutoFit/>
          </a:bodyPr>
          <a:lstStyle/>
          <a:p>
            <a:pPr>
              <a:lnSpc>
                <a:spcPct val="115000"/>
              </a:lnSpc>
              <a:spcAft>
                <a:spcPts val="1000"/>
              </a:spcAft>
            </a:pPr>
            <a:r>
              <a:rPr sz="3000" b="1" i="0">
                <a:solidFill>
                  <a:srgbClr val="1E293B"/>
                </a:solidFill>
                <a:latin typeface="Meiryo"/>
                <a:ea typeface="Meiryo"/>
                <a:cs typeface="Meiryo"/>
              </a:rPr>
              <a:t>なぜこのテーマを選んだのか</a:t>
            </a:r>
          </a:p>
        </p:txBody>
      </p:sp>
      <p:sp>
        <p:nvSpPr>
          <p:cNvPr id="4" name="Rectangle 3"/>
          <p:cNvSpPr/>
          <p:nvPr/>
        </p:nvSpPr>
        <p:spPr>
          <a:xfrm>
            <a:off x="658368" y="1325880"/>
            <a:ext cx="20116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9144000" cy="365760"/>
          </a:xfrm>
          <a:prstGeom prst="rect">
            <a:avLst/>
          </a:prstGeom>
          <a:noFill/>
        </p:spPr>
        <p:txBody>
          <a:bodyPr wrap="square" anchor="t">
            <a:spAutoFit/>
          </a:bodyPr>
          <a:lstStyle/>
          <a:p>
            <a:pPr>
              <a:lnSpc>
                <a:spcPct val="115000"/>
              </a:lnSpc>
              <a:spcAft>
                <a:spcPts val="1000"/>
              </a:spcAft>
            </a:pPr>
            <a:r>
              <a:rPr sz="1100" b="0" i="0">
                <a:solidFill>
                  <a:srgbClr val="64748B"/>
                </a:solidFill>
                <a:latin typeface="Meiryo"/>
                <a:ea typeface="Meiryo"/>
                <a:cs typeface="Meiryo"/>
              </a:rPr>
              <a:t>タスク管理アプリ</a:t>
            </a:r>
          </a:p>
        </p:txBody>
      </p:sp>
      <p:sp>
        <p:nvSpPr>
          <p:cNvPr id="6" name="TextBox 5"/>
          <p:cNvSpPr txBox="1"/>
          <p:nvPr/>
        </p:nvSpPr>
        <p:spPr>
          <a:xfrm>
            <a:off x="11094415" y="6400800"/>
            <a:ext cx="731520" cy="365760"/>
          </a:xfrm>
          <a:prstGeom prst="rect">
            <a:avLst/>
          </a:prstGeom>
          <a:noFill/>
        </p:spPr>
        <p:txBody>
          <a:bodyPr wrap="square" anchor="t">
            <a:spAutoFit/>
          </a:bodyPr>
          <a:lstStyle/>
          <a:p>
            <a:pPr algn="r">
              <a:lnSpc>
                <a:spcPct val="115000"/>
              </a:lnSpc>
              <a:spcAft>
                <a:spcPts val="1000"/>
              </a:spcAft>
            </a:pPr>
            <a:r>
              <a:rPr sz="1100" b="0" i="0">
                <a:solidFill>
                  <a:srgbClr val="64748B"/>
                </a:solidFill>
                <a:latin typeface="Meiryo"/>
                <a:ea typeface="Meiryo"/>
                <a:cs typeface="Meiryo"/>
              </a:rPr>
              <a:t>2 / 10</a:t>
            </a:r>
          </a:p>
        </p:txBody>
      </p:sp>
      <p:sp>
        <p:nvSpPr>
          <p:cNvPr id="7" name="TextBox 6"/>
          <p:cNvSpPr txBox="1"/>
          <p:nvPr/>
        </p:nvSpPr>
        <p:spPr>
          <a:xfrm>
            <a:off x="822960" y="1645920"/>
            <a:ext cx="10515600" cy="4572000"/>
          </a:xfrm>
          <a:prstGeom prst="rect">
            <a:avLst/>
          </a:prstGeom>
          <a:noFill/>
        </p:spPr>
        <p:txBody>
          <a:bodyPr wrap="square" anchor="t">
            <a:spAutoFit/>
          </a:bodyPr>
          <a:lstStyle/>
          <a:p>
            <a:pPr>
              <a:lnSpc>
                <a:spcPct val="115000"/>
              </a:lnSpc>
              <a:spcAft>
                <a:spcPts val="1600"/>
              </a:spcAft>
            </a:pPr>
            <a:r>
              <a:rPr sz="2200" b="1" i="0">
                <a:solidFill>
                  <a:srgbClr val="1E293B"/>
                </a:solidFill>
                <a:latin typeface="Meiryo"/>
                <a:ea typeface="Meiryo"/>
                <a:cs typeface="Meiryo"/>
              </a:rPr>
              <a:t>日々のタスク管理を「自分の手で」効率化できるアプリを作りたかった。</a:t>
            </a:r>
          </a:p>
          <a:p>
            <a:pPr>
              <a:lnSpc>
                <a:spcPct val="115000"/>
              </a:lnSpc>
              <a:spcAft>
                <a:spcPts val="1000"/>
              </a:spcAft>
            </a:pPr>
            <a:r>
              <a:rPr sz="1470" b="1" i="0">
                <a:solidFill>
                  <a:srgbClr val="2563EB"/>
                </a:solidFill>
                <a:latin typeface="Meiryo"/>
                <a:ea typeface="Meiryo"/>
                <a:cs typeface="Meiryo"/>
              </a:rPr>
              <a:t>●  </a:t>
            </a:r>
            <a:r>
              <a:rPr sz="2100" b="0" i="0">
                <a:solidFill>
                  <a:srgbClr val="1E293B"/>
                </a:solidFill>
                <a:latin typeface="Meiryo"/>
                <a:ea typeface="Meiryo"/>
                <a:cs typeface="Meiryo"/>
              </a:rPr>
              <a:t>紙やメモアプリでは、優先度・期限・進捗が一目で分からず管理しきれなかった。</a:t>
            </a:r>
          </a:p>
          <a:p>
            <a:pPr>
              <a:lnSpc>
                <a:spcPct val="115000"/>
              </a:lnSpc>
              <a:spcAft>
                <a:spcPts val="1000"/>
              </a:spcAft>
            </a:pPr>
            <a:r>
              <a:rPr sz="1470" b="1" i="0">
                <a:solidFill>
                  <a:srgbClr val="2563EB"/>
                </a:solidFill>
                <a:latin typeface="Meiryo"/>
                <a:ea typeface="Meiryo"/>
                <a:cs typeface="Meiryo"/>
              </a:rPr>
              <a:t>●  </a:t>
            </a:r>
            <a:r>
              <a:rPr sz="2100" b="0" i="0">
                <a:solidFill>
                  <a:srgbClr val="1E293B"/>
                </a:solidFill>
                <a:latin typeface="Meiryo"/>
                <a:ea typeface="Meiryo"/>
                <a:cs typeface="Meiryo"/>
              </a:rPr>
              <a:t>Web アプリをフロントからバックエンドまで一気通貫で作れたら面白いと思った。</a:t>
            </a:r>
          </a:p>
          <a:p>
            <a:pPr>
              <a:lnSpc>
                <a:spcPct val="115000"/>
              </a:lnSpc>
              <a:spcAft>
                <a:spcPts val="1000"/>
              </a:spcAft>
            </a:pPr>
            <a:r>
              <a:rPr sz="1470" b="1" i="0">
                <a:solidFill>
                  <a:srgbClr val="2563EB"/>
                </a:solidFill>
                <a:latin typeface="Meiryo"/>
                <a:ea typeface="Meiryo"/>
                <a:cs typeface="Meiryo"/>
              </a:rPr>
              <a:t>●  </a:t>
            </a:r>
            <a:r>
              <a:rPr sz="2100" b="0" i="0">
                <a:solidFill>
                  <a:srgbClr val="1E293B"/>
                </a:solidFill>
                <a:latin typeface="Meiryo"/>
                <a:ea typeface="Meiryo"/>
                <a:cs typeface="Meiryo"/>
              </a:rPr>
              <a:t>「動くだけ」でなく、実際のサービスのように使える品質に挑戦してみたかった。</a:t>
            </a:r>
          </a:p>
          <a:p>
            <a:pPr>
              <a:lnSpc>
                <a:spcPct val="115000"/>
              </a:lnSpc>
              <a:spcAft>
                <a:spcPts val="1000"/>
              </a:spcAft>
            </a:pPr>
            <a:r>
              <a:rPr sz="1470" b="1" i="0">
                <a:solidFill>
                  <a:srgbClr val="2563EB"/>
                </a:solidFill>
                <a:latin typeface="Meiryo"/>
                <a:ea typeface="Meiryo"/>
                <a:cs typeface="Meiryo"/>
              </a:rPr>
              <a:t>●  </a:t>
            </a:r>
            <a:r>
              <a:rPr sz="2100" b="0" i="0">
                <a:solidFill>
                  <a:srgbClr val="1E293B"/>
                </a:solidFill>
                <a:latin typeface="Meiryo"/>
                <a:ea typeface="Meiryo"/>
                <a:cs typeface="Meiryo"/>
              </a:rPr>
              <a:t>ドラッグ＆ドロップなど、触っていて気持ちいい操作を自分で実装したかった。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nchor="t">
            <a:spAutoFit/>
          </a:bodyPr>
          <a:lstStyle/>
          <a:p>
            <a:pPr>
              <a:lnSpc>
                <a:spcPct val="115000"/>
              </a:lnSpc>
              <a:spcAft>
                <a:spcPts val="1000"/>
              </a:spcAft>
            </a:pPr>
            <a:r>
              <a:rPr sz="3000" b="1" i="0">
                <a:solidFill>
                  <a:srgbClr val="1E293B"/>
                </a:solidFill>
                <a:latin typeface="Meiryo"/>
                <a:ea typeface="Meiryo"/>
                <a:cs typeface="Meiryo"/>
              </a:rPr>
              <a:t>作品概要 ― できること</a:t>
            </a:r>
          </a:p>
        </p:txBody>
      </p:sp>
      <p:sp>
        <p:nvSpPr>
          <p:cNvPr id="4" name="Rectangle 3"/>
          <p:cNvSpPr/>
          <p:nvPr/>
        </p:nvSpPr>
        <p:spPr>
          <a:xfrm>
            <a:off x="658368" y="1325880"/>
            <a:ext cx="20116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9144000" cy="365760"/>
          </a:xfrm>
          <a:prstGeom prst="rect">
            <a:avLst/>
          </a:prstGeom>
          <a:noFill/>
        </p:spPr>
        <p:txBody>
          <a:bodyPr wrap="square" anchor="t">
            <a:spAutoFit/>
          </a:bodyPr>
          <a:lstStyle/>
          <a:p>
            <a:pPr>
              <a:lnSpc>
                <a:spcPct val="115000"/>
              </a:lnSpc>
              <a:spcAft>
                <a:spcPts val="1000"/>
              </a:spcAft>
            </a:pPr>
            <a:r>
              <a:rPr sz="1100" b="0" i="0">
                <a:solidFill>
                  <a:srgbClr val="64748B"/>
                </a:solidFill>
                <a:latin typeface="Meiryo"/>
                <a:ea typeface="Meiryo"/>
                <a:cs typeface="Meiryo"/>
              </a:rPr>
              <a:t>タスク管理アプリ</a:t>
            </a:r>
          </a:p>
        </p:txBody>
      </p:sp>
      <p:sp>
        <p:nvSpPr>
          <p:cNvPr id="6" name="TextBox 5"/>
          <p:cNvSpPr txBox="1"/>
          <p:nvPr/>
        </p:nvSpPr>
        <p:spPr>
          <a:xfrm>
            <a:off x="11094415" y="6400800"/>
            <a:ext cx="731520" cy="365760"/>
          </a:xfrm>
          <a:prstGeom prst="rect">
            <a:avLst/>
          </a:prstGeom>
          <a:noFill/>
        </p:spPr>
        <p:txBody>
          <a:bodyPr wrap="square" anchor="t">
            <a:spAutoFit/>
          </a:bodyPr>
          <a:lstStyle/>
          <a:p>
            <a:pPr algn="r">
              <a:lnSpc>
                <a:spcPct val="115000"/>
              </a:lnSpc>
              <a:spcAft>
                <a:spcPts val="1000"/>
              </a:spcAft>
            </a:pPr>
            <a:r>
              <a:rPr sz="1100" b="0" i="0">
                <a:solidFill>
                  <a:srgbClr val="64748B"/>
                </a:solidFill>
                <a:latin typeface="Meiryo"/>
                <a:ea typeface="Meiryo"/>
                <a:cs typeface="Meiryo"/>
              </a:rPr>
              <a:t>3 / 10</a:t>
            </a:r>
          </a:p>
        </p:txBody>
      </p:sp>
      <p:sp>
        <p:nvSpPr>
          <p:cNvPr id="7" name="TextBox 6"/>
          <p:cNvSpPr txBox="1"/>
          <p:nvPr/>
        </p:nvSpPr>
        <p:spPr>
          <a:xfrm>
            <a:off x="822960" y="1645920"/>
            <a:ext cx="10515600" cy="4572000"/>
          </a:xfrm>
          <a:prstGeom prst="rect">
            <a:avLst/>
          </a:prstGeom>
          <a:noFill/>
        </p:spPr>
        <p:txBody>
          <a:bodyPr wrap="square" anchor="t">
            <a:spAutoFit/>
          </a:bodyPr>
          <a:lstStyle/>
          <a:p>
            <a:pPr>
              <a:lnSpc>
                <a:spcPct val="115000"/>
              </a:lnSpc>
              <a:spcAft>
                <a:spcPts val="1600"/>
              </a:spcAft>
            </a:pPr>
            <a:r>
              <a:rPr sz="2200" b="1" i="0">
                <a:solidFill>
                  <a:srgbClr val="1E293B"/>
                </a:solidFill>
                <a:latin typeface="Meiryo"/>
                <a:ea typeface="Meiryo"/>
                <a:cs typeface="Meiryo"/>
              </a:rPr>
              <a:t>ユーザー登録／ログインして、自分専用のタスクを管理できる Web アプリ。</a:t>
            </a:r>
          </a:p>
          <a:p>
            <a:pPr>
              <a:lnSpc>
                <a:spcPct val="115000"/>
              </a:lnSpc>
              <a:spcAft>
                <a:spcPts val="1000"/>
              </a:spcAft>
            </a:pPr>
            <a:r>
              <a:rPr sz="1470" b="1" i="0">
                <a:solidFill>
                  <a:srgbClr val="2563EB"/>
                </a:solidFill>
                <a:latin typeface="Meiryo"/>
                <a:ea typeface="Meiryo"/>
                <a:cs typeface="Meiryo"/>
              </a:rPr>
              <a:t>●  </a:t>
            </a:r>
            <a:r>
              <a:rPr sz="2100" b="0" i="0">
                <a:solidFill>
                  <a:srgbClr val="1E293B"/>
                </a:solidFill>
                <a:latin typeface="Meiryo"/>
                <a:ea typeface="Meiryo"/>
                <a:cs typeface="Meiryo"/>
              </a:rPr>
              <a:t>タスクの作成・編集・削除（CRUD）と、未着手／進行中／完了の状態管理</a:t>
            </a:r>
          </a:p>
          <a:p>
            <a:pPr>
              <a:lnSpc>
                <a:spcPct val="115000"/>
              </a:lnSpc>
              <a:spcAft>
                <a:spcPts val="1000"/>
              </a:spcAft>
            </a:pPr>
            <a:r>
              <a:rPr sz="1470" b="1" i="0">
                <a:solidFill>
                  <a:srgbClr val="2563EB"/>
                </a:solidFill>
                <a:latin typeface="Meiryo"/>
                <a:ea typeface="Meiryo"/>
                <a:cs typeface="Meiryo"/>
              </a:rPr>
              <a:t>●  </a:t>
            </a:r>
            <a:r>
              <a:rPr sz="2100" b="0" i="0">
                <a:solidFill>
                  <a:srgbClr val="1E293B"/>
                </a:solidFill>
                <a:latin typeface="Meiryo"/>
                <a:ea typeface="Meiryo"/>
                <a:cs typeface="Meiryo"/>
              </a:rPr>
              <a:t>ドラッグ＆ドロップのカンバンボードで、カードを動かして状態変更</a:t>
            </a:r>
          </a:p>
          <a:p>
            <a:pPr>
              <a:lnSpc>
                <a:spcPct val="115000"/>
              </a:lnSpc>
              <a:spcAft>
                <a:spcPts val="1000"/>
              </a:spcAft>
            </a:pPr>
            <a:r>
              <a:rPr sz="1470" b="1" i="0">
                <a:solidFill>
                  <a:srgbClr val="2563EB"/>
                </a:solidFill>
                <a:latin typeface="Meiryo"/>
                <a:ea typeface="Meiryo"/>
                <a:cs typeface="Meiryo"/>
              </a:rPr>
              <a:t>●  </a:t>
            </a:r>
            <a:r>
              <a:rPr sz="2100" b="0" i="0">
                <a:solidFill>
                  <a:srgbClr val="1E293B"/>
                </a:solidFill>
                <a:latin typeface="Meiryo"/>
                <a:ea typeface="Meiryo"/>
                <a:cs typeface="Meiryo"/>
              </a:rPr>
              <a:t>タグ付け・優先度・期限の設定と、期限超過の自動ハイライト</a:t>
            </a:r>
          </a:p>
          <a:p>
            <a:pPr>
              <a:lnSpc>
                <a:spcPct val="115000"/>
              </a:lnSpc>
              <a:spcAft>
                <a:spcPts val="1000"/>
              </a:spcAft>
            </a:pPr>
            <a:r>
              <a:rPr sz="1470" b="1" i="0">
                <a:solidFill>
                  <a:srgbClr val="2563EB"/>
                </a:solidFill>
                <a:latin typeface="Meiryo"/>
                <a:ea typeface="Meiryo"/>
                <a:cs typeface="Meiryo"/>
              </a:rPr>
              <a:t>●  </a:t>
            </a:r>
            <a:r>
              <a:rPr sz="2100" b="0" i="0">
                <a:solidFill>
                  <a:srgbClr val="1E293B"/>
                </a:solidFill>
                <a:latin typeface="Meiryo"/>
                <a:ea typeface="Meiryo"/>
                <a:cs typeface="Meiryo"/>
              </a:rPr>
              <a:t>タイトル／説明のインクリメンタル検索、ステータス別タブと件数サマリー</a:t>
            </a:r>
          </a:p>
          <a:p>
            <a:pPr>
              <a:lnSpc>
                <a:spcPct val="115000"/>
              </a:lnSpc>
              <a:spcAft>
                <a:spcPts val="1000"/>
              </a:spcAft>
            </a:pPr>
            <a:r>
              <a:rPr sz="1470" b="1" i="0">
                <a:solidFill>
                  <a:srgbClr val="2563EB"/>
                </a:solidFill>
                <a:latin typeface="Meiryo"/>
                <a:ea typeface="Meiryo"/>
                <a:cs typeface="Meiryo"/>
              </a:rPr>
              <a:t>●  </a:t>
            </a:r>
            <a:r>
              <a:rPr sz="2100" b="0" i="0">
                <a:solidFill>
                  <a:srgbClr val="1E293B"/>
                </a:solidFill>
                <a:latin typeface="Meiryo"/>
                <a:ea typeface="Meiryo"/>
                <a:cs typeface="Meiryo"/>
              </a:rPr>
              <a:t>優先度 → 期限 → 作成日時を考慮した自動並び替え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nchor="t">
            <a:spAutoFit/>
          </a:bodyPr>
          <a:lstStyle/>
          <a:p>
            <a:pPr>
              <a:lnSpc>
                <a:spcPct val="115000"/>
              </a:lnSpc>
              <a:spcAft>
                <a:spcPts val="1000"/>
              </a:spcAft>
            </a:pPr>
            <a:r>
              <a:rPr sz="3000" b="1" i="0">
                <a:solidFill>
                  <a:srgbClr val="1E293B"/>
                </a:solidFill>
                <a:latin typeface="Meiryo"/>
                <a:ea typeface="Meiryo"/>
                <a:cs typeface="Meiryo"/>
              </a:rPr>
              <a:t>デモ（実演動画）</a:t>
            </a:r>
          </a:p>
        </p:txBody>
      </p:sp>
      <p:sp>
        <p:nvSpPr>
          <p:cNvPr id="4" name="Rectangle 3"/>
          <p:cNvSpPr/>
          <p:nvPr/>
        </p:nvSpPr>
        <p:spPr>
          <a:xfrm>
            <a:off x="658368" y="1325880"/>
            <a:ext cx="20116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9144000" cy="365760"/>
          </a:xfrm>
          <a:prstGeom prst="rect">
            <a:avLst/>
          </a:prstGeom>
          <a:noFill/>
        </p:spPr>
        <p:txBody>
          <a:bodyPr wrap="square" anchor="t">
            <a:spAutoFit/>
          </a:bodyPr>
          <a:lstStyle/>
          <a:p>
            <a:pPr>
              <a:lnSpc>
                <a:spcPct val="115000"/>
              </a:lnSpc>
              <a:spcAft>
                <a:spcPts val="1000"/>
              </a:spcAft>
            </a:pPr>
            <a:r>
              <a:rPr sz="1100" b="0" i="0">
                <a:solidFill>
                  <a:srgbClr val="64748B"/>
                </a:solidFill>
                <a:latin typeface="Meiryo"/>
                <a:ea typeface="Meiryo"/>
                <a:cs typeface="Meiryo"/>
              </a:rPr>
              <a:t>タスク管理アプリ</a:t>
            </a:r>
          </a:p>
        </p:txBody>
      </p:sp>
      <p:sp>
        <p:nvSpPr>
          <p:cNvPr id="6" name="TextBox 5"/>
          <p:cNvSpPr txBox="1"/>
          <p:nvPr/>
        </p:nvSpPr>
        <p:spPr>
          <a:xfrm>
            <a:off x="11094415" y="6400800"/>
            <a:ext cx="731520" cy="365760"/>
          </a:xfrm>
          <a:prstGeom prst="rect">
            <a:avLst/>
          </a:prstGeom>
          <a:noFill/>
        </p:spPr>
        <p:txBody>
          <a:bodyPr wrap="square" anchor="t">
            <a:spAutoFit/>
          </a:bodyPr>
          <a:lstStyle/>
          <a:p>
            <a:pPr algn="r">
              <a:lnSpc>
                <a:spcPct val="115000"/>
              </a:lnSpc>
              <a:spcAft>
                <a:spcPts val="1000"/>
              </a:spcAft>
            </a:pPr>
            <a:r>
              <a:rPr sz="1100" b="0" i="0">
                <a:solidFill>
                  <a:srgbClr val="64748B"/>
                </a:solidFill>
                <a:latin typeface="Meiryo"/>
                <a:ea typeface="Meiryo"/>
                <a:cs typeface="Meiryo"/>
              </a:rPr>
              <a:t>4 / 10</a:t>
            </a:r>
          </a:p>
        </p:txBody>
      </p:sp>
      <p:sp>
        <p:nvSpPr>
          <p:cNvPr id="7" name="TextBox 6"/>
          <p:cNvSpPr txBox="1"/>
          <p:nvPr/>
        </p:nvSpPr>
        <p:spPr>
          <a:xfrm>
            <a:off x="822960" y="1508760"/>
            <a:ext cx="10515600" cy="457200"/>
          </a:xfrm>
          <a:prstGeom prst="rect">
            <a:avLst/>
          </a:prstGeom>
          <a:noFill/>
        </p:spPr>
        <p:txBody>
          <a:bodyPr wrap="square" anchor="t">
            <a:spAutoFit/>
          </a:bodyPr>
          <a:lstStyle/>
          <a:p>
            <a:pPr>
              <a:lnSpc>
                <a:spcPct val="115000"/>
              </a:lnSpc>
              <a:spcAft>
                <a:spcPts val="1000"/>
              </a:spcAft>
            </a:pPr>
            <a:r>
              <a:rPr sz="1600" b="0" i="0">
                <a:solidFill>
                  <a:srgbClr val="64748B"/>
                </a:solidFill>
                <a:latin typeface="Meiryo"/>
                <a:ea typeface="Meiryo"/>
                <a:cs typeface="Meiryo"/>
              </a:rPr>
              <a:t>▶ 再生：ログイン → タスク作成 → カンバンでドラッグ → 検索・絞り込み（約27秒）</a:t>
            </a:r>
          </a:p>
        </p:txBody>
      </p:sp>
      <p:sp>
        <p:nvSpPr>
          <p:cNvPr id="8" name="Rectangle 7"/>
          <p:cNvSpPr/>
          <p:nvPr/>
        </p:nvSpPr>
        <p:spPr>
          <a:xfrm>
            <a:off x="2398247" y="1971680"/>
            <a:ext cx="7395200" cy="41948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dem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438247" y="2011680"/>
            <a:ext cx="7315200" cy="41148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nchor="t">
            <a:spAutoFit/>
          </a:bodyPr>
          <a:lstStyle/>
          <a:p>
            <a:pPr>
              <a:lnSpc>
                <a:spcPct val="115000"/>
              </a:lnSpc>
              <a:spcAft>
                <a:spcPts val="1000"/>
              </a:spcAft>
            </a:pPr>
            <a:r>
              <a:rPr sz="3000" b="1" i="0">
                <a:solidFill>
                  <a:srgbClr val="1E293B"/>
                </a:solidFill>
                <a:latin typeface="Meiryo"/>
                <a:ea typeface="Meiryo"/>
                <a:cs typeface="Meiryo"/>
              </a:rPr>
              <a:t>工夫① ストレージを差し替えられる設計</a:t>
            </a:r>
          </a:p>
        </p:txBody>
      </p:sp>
      <p:sp>
        <p:nvSpPr>
          <p:cNvPr id="4" name="Rectangle 3"/>
          <p:cNvSpPr/>
          <p:nvPr/>
        </p:nvSpPr>
        <p:spPr>
          <a:xfrm>
            <a:off x="658368" y="1325880"/>
            <a:ext cx="20116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9144000" cy="365760"/>
          </a:xfrm>
          <a:prstGeom prst="rect">
            <a:avLst/>
          </a:prstGeom>
          <a:noFill/>
        </p:spPr>
        <p:txBody>
          <a:bodyPr wrap="square" anchor="t">
            <a:spAutoFit/>
          </a:bodyPr>
          <a:lstStyle/>
          <a:p>
            <a:pPr>
              <a:lnSpc>
                <a:spcPct val="115000"/>
              </a:lnSpc>
              <a:spcAft>
                <a:spcPts val="1000"/>
              </a:spcAft>
            </a:pPr>
            <a:r>
              <a:rPr sz="1100" b="0" i="0">
                <a:solidFill>
                  <a:srgbClr val="64748B"/>
                </a:solidFill>
                <a:latin typeface="Meiryo"/>
                <a:ea typeface="Meiryo"/>
                <a:cs typeface="Meiryo"/>
              </a:rPr>
              <a:t>タスク管理アプリ</a:t>
            </a:r>
          </a:p>
        </p:txBody>
      </p:sp>
      <p:sp>
        <p:nvSpPr>
          <p:cNvPr id="6" name="TextBox 5"/>
          <p:cNvSpPr txBox="1"/>
          <p:nvPr/>
        </p:nvSpPr>
        <p:spPr>
          <a:xfrm>
            <a:off x="11094415" y="6400800"/>
            <a:ext cx="731520" cy="365760"/>
          </a:xfrm>
          <a:prstGeom prst="rect">
            <a:avLst/>
          </a:prstGeom>
          <a:noFill/>
        </p:spPr>
        <p:txBody>
          <a:bodyPr wrap="square" anchor="t">
            <a:spAutoFit/>
          </a:bodyPr>
          <a:lstStyle/>
          <a:p>
            <a:pPr algn="r">
              <a:lnSpc>
                <a:spcPct val="115000"/>
              </a:lnSpc>
              <a:spcAft>
                <a:spcPts val="1000"/>
              </a:spcAft>
            </a:pPr>
            <a:r>
              <a:rPr sz="1100" b="0" i="0">
                <a:solidFill>
                  <a:srgbClr val="64748B"/>
                </a:solidFill>
                <a:latin typeface="Meiryo"/>
                <a:ea typeface="Meiryo"/>
                <a:cs typeface="Meiryo"/>
              </a:rPr>
              <a:t>5 / 10</a:t>
            </a:r>
          </a:p>
        </p:txBody>
      </p:sp>
      <p:sp>
        <p:nvSpPr>
          <p:cNvPr id="7" name="TextBox 6"/>
          <p:cNvSpPr txBox="1"/>
          <p:nvPr/>
        </p:nvSpPr>
        <p:spPr>
          <a:xfrm>
            <a:off x="822960" y="1645920"/>
            <a:ext cx="5852160" cy="4572000"/>
          </a:xfrm>
          <a:prstGeom prst="rect">
            <a:avLst/>
          </a:prstGeom>
          <a:noFill/>
        </p:spPr>
        <p:txBody>
          <a:bodyPr wrap="square" anchor="t">
            <a:spAutoFit/>
          </a:bodyPr>
          <a:lstStyle/>
          <a:p>
            <a:pPr>
              <a:lnSpc>
                <a:spcPct val="115000"/>
              </a:lnSpc>
              <a:spcAft>
                <a:spcPts val="1400"/>
              </a:spcAft>
            </a:pPr>
            <a:r>
              <a:rPr sz="2100" b="1" i="0">
                <a:solidFill>
                  <a:srgbClr val="1E293B"/>
                </a:solidFill>
                <a:latin typeface="Meiryo"/>
                <a:ea typeface="Meiryo"/>
                <a:cs typeface="Meiryo"/>
              </a:rPr>
              <a:t>リポジトリパターンで「保存方法」を抽象化。</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アプリ本体は具体的な DB ではなく共通インターフェースに依存</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ローカル＝JSON ファイル、テスト＝メモリ、本番＝PostgreSQL</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同じテストが全実装に通用（契約テスト）</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環境変数で自動選択。設定ゼロで動く</a:t>
            </a:r>
          </a:p>
        </p:txBody>
      </p:sp>
      <p:sp>
        <p:nvSpPr>
          <p:cNvPr id="8" name="Rectangle 7"/>
          <p:cNvSpPr/>
          <p:nvPr/>
        </p:nvSpPr>
        <p:spPr>
          <a:xfrm>
            <a:off x="6949440" y="1828800"/>
            <a:ext cx="4572000" cy="7315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1874519"/>
            <a:ext cx="4572000" cy="640080"/>
          </a:xfrm>
          <a:prstGeom prst="rect">
            <a:avLst/>
          </a:prstGeom>
          <a:noFill/>
        </p:spPr>
        <p:txBody>
          <a:bodyPr wrap="square" anchor="ctr">
            <a:spAutoFit/>
          </a:bodyPr>
          <a:lstStyle/>
          <a:p>
            <a:pPr algn="ctr">
              <a:lnSpc>
                <a:spcPct val="115000"/>
              </a:lnSpc>
              <a:spcAft>
                <a:spcPts val="1000"/>
              </a:spcAft>
            </a:pPr>
            <a:r>
              <a:rPr sz="1600" b="1" i="0">
                <a:solidFill>
                  <a:srgbClr val="FFFFFF"/>
                </a:solidFill>
                <a:latin typeface="Meiryo"/>
                <a:ea typeface="Meiryo"/>
                <a:cs typeface="Meiryo"/>
              </a:rPr>
              <a:t>UI / API（上位レイヤー）</a:t>
            </a:r>
          </a:p>
        </p:txBody>
      </p:sp>
      <p:sp>
        <p:nvSpPr>
          <p:cNvPr id="10" name="Rectangle 9"/>
          <p:cNvSpPr/>
          <p:nvPr/>
        </p:nvSpPr>
        <p:spPr>
          <a:xfrm>
            <a:off x="8869680" y="2606040"/>
            <a:ext cx="731520" cy="4114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2578608"/>
            <a:ext cx="4572000" cy="457200"/>
          </a:xfrm>
          <a:prstGeom prst="rect">
            <a:avLst/>
          </a:prstGeom>
          <a:noFill/>
        </p:spPr>
        <p:txBody>
          <a:bodyPr wrap="square" anchor="ctr">
            <a:spAutoFit/>
          </a:bodyPr>
          <a:lstStyle/>
          <a:p>
            <a:pPr algn="ctr">
              <a:lnSpc>
                <a:spcPct val="115000"/>
              </a:lnSpc>
              <a:spcAft>
                <a:spcPts val="1000"/>
              </a:spcAft>
            </a:pPr>
            <a:r>
              <a:rPr sz="1400" b="0" i="0">
                <a:solidFill>
                  <a:srgbClr val="64748B"/>
                </a:solidFill>
                <a:latin typeface="Meiryo"/>
                <a:ea typeface="Meiryo"/>
                <a:cs typeface="Meiryo"/>
              </a:rPr>
              <a:t>↓ TaskRepository（共通I/F）</a:t>
            </a:r>
          </a:p>
        </p:txBody>
      </p:sp>
      <p:sp>
        <p:nvSpPr>
          <p:cNvPr id="12" name="Rectangle 11"/>
          <p:cNvSpPr/>
          <p:nvPr/>
        </p:nvSpPr>
        <p:spPr>
          <a:xfrm>
            <a:off x="6949440" y="3200400"/>
            <a:ext cx="1417320" cy="822960"/>
          </a:xfrm>
          <a:prstGeom prst="rect">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3246120"/>
            <a:ext cx="1417320" cy="731520"/>
          </a:xfrm>
          <a:prstGeom prst="rect">
            <a:avLst/>
          </a:prstGeom>
          <a:noFill/>
        </p:spPr>
        <p:txBody>
          <a:bodyPr wrap="square" anchor="ctr">
            <a:spAutoFit/>
          </a:bodyPr>
          <a:lstStyle/>
          <a:p>
            <a:pPr algn="ctr">
              <a:lnSpc>
                <a:spcPct val="115000"/>
              </a:lnSpc>
              <a:spcAft>
                <a:spcPts val="1000"/>
              </a:spcAft>
            </a:pPr>
            <a:r>
              <a:rPr sz="1500" b="1" i="0">
                <a:solidFill>
                  <a:srgbClr val="1E293B"/>
                </a:solidFill>
                <a:latin typeface="Meiryo"/>
                <a:ea typeface="Meiryo"/>
                <a:cs typeface="Meiryo"/>
              </a:rPr>
              <a:t>JSON</a:t>
            </a:r>
          </a:p>
        </p:txBody>
      </p:sp>
      <p:sp>
        <p:nvSpPr>
          <p:cNvPr id="14" name="Rectangle 13"/>
          <p:cNvSpPr/>
          <p:nvPr/>
        </p:nvSpPr>
        <p:spPr>
          <a:xfrm>
            <a:off x="8531352" y="3200400"/>
            <a:ext cx="1417320" cy="822960"/>
          </a:xfrm>
          <a:prstGeom prst="rect">
            <a:avLst/>
          </a:prstGeom>
          <a:solidFill>
            <a:srgbClr val="F1F5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1352" y="3246120"/>
            <a:ext cx="1417320" cy="731520"/>
          </a:xfrm>
          <a:prstGeom prst="rect">
            <a:avLst/>
          </a:prstGeom>
          <a:noFill/>
        </p:spPr>
        <p:txBody>
          <a:bodyPr wrap="square" anchor="ctr">
            <a:spAutoFit/>
          </a:bodyPr>
          <a:lstStyle/>
          <a:p>
            <a:pPr algn="ctr">
              <a:lnSpc>
                <a:spcPct val="115000"/>
              </a:lnSpc>
              <a:spcAft>
                <a:spcPts val="1000"/>
              </a:spcAft>
            </a:pPr>
            <a:r>
              <a:rPr sz="1500" b="1" i="0">
                <a:solidFill>
                  <a:srgbClr val="1E293B"/>
                </a:solidFill>
                <a:latin typeface="Meiryo"/>
                <a:ea typeface="Meiryo"/>
                <a:cs typeface="Meiryo"/>
              </a:rPr>
              <a:t>メモリ</a:t>
            </a:r>
          </a:p>
        </p:txBody>
      </p:sp>
      <p:sp>
        <p:nvSpPr>
          <p:cNvPr id="16" name="Rectangle 15"/>
          <p:cNvSpPr/>
          <p:nvPr/>
        </p:nvSpPr>
        <p:spPr>
          <a:xfrm>
            <a:off x="10113264" y="3200400"/>
            <a:ext cx="1417320" cy="822960"/>
          </a:xfrm>
          <a:prstGeom prst="rect">
            <a:avLst/>
          </a:prstGeom>
          <a:solidFill>
            <a:srgbClr val="2563E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13264" y="3246120"/>
            <a:ext cx="1417320" cy="731520"/>
          </a:xfrm>
          <a:prstGeom prst="rect">
            <a:avLst/>
          </a:prstGeom>
          <a:noFill/>
        </p:spPr>
        <p:txBody>
          <a:bodyPr wrap="square" anchor="ctr">
            <a:spAutoFit/>
          </a:bodyPr>
          <a:lstStyle/>
          <a:p>
            <a:pPr algn="ctr">
              <a:lnSpc>
                <a:spcPct val="115000"/>
              </a:lnSpc>
              <a:spcAft>
                <a:spcPts val="1000"/>
              </a:spcAft>
            </a:pPr>
            <a:r>
              <a:rPr sz="1500" b="1" i="0">
                <a:solidFill>
                  <a:srgbClr val="FFFFFF"/>
                </a:solidFill>
                <a:latin typeface="Meiryo"/>
                <a:ea typeface="Meiryo"/>
                <a:cs typeface="Meiryo"/>
              </a:rPr>
              <a:t>PostgreSQL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nchor="t">
            <a:spAutoFit/>
          </a:bodyPr>
          <a:lstStyle/>
          <a:p>
            <a:pPr>
              <a:lnSpc>
                <a:spcPct val="115000"/>
              </a:lnSpc>
              <a:spcAft>
                <a:spcPts val="1000"/>
              </a:spcAft>
            </a:pPr>
            <a:r>
              <a:rPr sz="3000" b="1" i="0">
                <a:solidFill>
                  <a:srgbClr val="1E293B"/>
                </a:solidFill>
                <a:latin typeface="Meiryo"/>
                <a:ea typeface="Meiryo"/>
                <a:cs typeface="Meiryo"/>
              </a:rPr>
              <a:t>工夫② 認証とマルチテナント（データ隔離）</a:t>
            </a:r>
          </a:p>
        </p:txBody>
      </p:sp>
      <p:sp>
        <p:nvSpPr>
          <p:cNvPr id="4" name="Rectangle 3"/>
          <p:cNvSpPr/>
          <p:nvPr/>
        </p:nvSpPr>
        <p:spPr>
          <a:xfrm>
            <a:off x="658368" y="1325880"/>
            <a:ext cx="20116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9144000" cy="365760"/>
          </a:xfrm>
          <a:prstGeom prst="rect">
            <a:avLst/>
          </a:prstGeom>
          <a:noFill/>
        </p:spPr>
        <p:txBody>
          <a:bodyPr wrap="square" anchor="t">
            <a:spAutoFit/>
          </a:bodyPr>
          <a:lstStyle/>
          <a:p>
            <a:pPr>
              <a:lnSpc>
                <a:spcPct val="115000"/>
              </a:lnSpc>
              <a:spcAft>
                <a:spcPts val="1000"/>
              </a:spcAft>
            </a:pPr>
            <a:r>
              <a:rPr sz="1100" b="0" i="0">
                <a:solidFill>
                  <a:srgbClr val="64748B"/>
                </a:solidFill>
                <a:latin typeface="Meiryo"/>
                <a:ea typeface="Meiryo"/>
                <a:cs typeface="Meiryo"/>
              </a:rPr>
              <a:t>タスク管理アプリ</a:t>
            </a:r>
          </a:p>
        </p:txBody>
      </p:sp>
      <p:sp>
        <p:nvSpPr>
          <p:cNvPr id="6" name="TextBox 5"/>
          <p:cNvSpPr txBox="1"/>
          <p:nvPr/>
        </p:nvSpPr>
        <p:spPr>
          <a:xfrm>
            <a:off x="11094415" y="6400800"/>
            <a:ext cx="731520" cy="365760"/>
          </a:xfrm>
          <a:prstGeom prst="rect">
            <a:avLst/>
          </a:prstGeom>
          <a:noFill/>
        </p:spPr>
        <p:txBody>
          <a:bodyPr wrap="square" anchor="t">
            <a:spAutoFit/>
          </a:bodyPr>
          <a:lstStyle/>
          <a:p>
            <a:pPr algn="r">
              <a:lnSpc>
                <a:spcPct val="115000"/>
              </a:lnSpc>
              <a:spcAft>
                <a:spcPts val="1000"/>
              </a:spcAft>
            </a:pPr>
            <a:r>
              <a:rPr sz="1100" b="0" i="0">
                <a:solidFill>
                  <a:srgbClr val="64748B"/>
                </a:solidFill>
                <a:latin typeface="Meiryo"/>
                <a:ea typeface="Meiryo"/>
                <a:cs typeface="Meiryo"/>
              </a:rPr>
              <a:t>6 / 10</a:t>
            </a:r>
          </a:p>
        </p:txBody>
      </p:sp>
      <p:sp>
        <p:nvSpPr>
          <p:cNvPr id="7" name="TextBox 6"/>
          <p:cNvSpPr txBox="1"/>
          <p:nvPr/>
        </p:nvSpPr>
        <p:spPr>
          <a:xfrm>
            <a:off x="822960" y="1645920"/>
            <a:ext cx="10515600" cy="4572000"/>
          </a:xfrm>
          <a:prstGeom prst="rect">
            <a:avLst/>
          </a:prstGeom>
          <a:noFill/>
        </p:spPr>
        <p:txBody>
          <a:bodyPr wrap="square" anchor="t">
            <a:spAutoFit/>
          </a:bodyPr>
          <a:lstStyle/>
          <a:p>
            <a:pPr>
              <a:lnSpc>
                <a:spcPct val="115000"/>
              </a:lnSpc>
              <a:spcAft>
                <a:spcPts val="1600"/>
              </a:spcAft>
            </a:pPr>
            <a:r>
              <a:rPr sz="2200" b="1" i="0">
                <a:solidFill>
                  <a:srgbClr val="1E293B"/>
                </a:solidFill>
                <a:latin typeface="Meiryo"/>
                <a:ea typeface="Meiryo"/>
                <a:cs typeface="Meiryo"/>
              </a:rPr>
              <a:t>ユーザーごとにデータを完全に分離し、他人のタスクは一切見えない。</a:t>
            </a:r>
          </a:p>
          <a:p>
            <a:pPr>
              <a:lnSpc>
                <a:spcPct val="115000"/>
              </a:lnSpc>
              <a:spcAft>
                <a:spcPts val="1000"/>
              </a:spcAft>
            </a:pPr>
            <a:r>
              <a:rPr sz="1400" b="1" i="0">
                <a:solidFill>
                  <a:srgbClr val="2563EB"/>
                </a:solidFill>
                <a:latin typeface="Meiryo"/>
                <a:ea typeface="Meiryo"/>
                <a:cs typeface="Meiryo"/>
              </a:rPr>
              <a:t>●  </a:t>
            </a:r>
            <a:r>
              <a:rPr sz="2000" b="0" i="0">
                <a:solidFill>
                  <a:srgbClr val="1E293B"/>
                </a:solidFill>
                <a:latin typeface="Meiryo"/>
                <a:ea typeface="Meiryo"/>
                <a:cs typeface="Meiryo"/>
              </a:rPr>
              <a:t>Auth.js（NextAuth v5）でログイン。パスワードは scrypt でハッシュ化して保存</a:t>
            </a:r>
          </a:p>
          <a:p>
            <a:pPr>
              <a:lnSpc>
                <a:spcPct val="115000"/>
              </a:lnSpc>
              <a:spcAft>
                <a:spcPts val="1000"/>
              </a:spcAft>
            </a:pPr>
            <a:r>
              <a:rPr sz="1400" b="1" i="0">
                <a:solidFill>
                  <a:srgbClr val="2563EB"/>
                </a:solidFill>
                <a:latin typeface="Meiryo"/>
                <a:ea typeface="Meiryo"/>
                <a:cs typeface="Meiryo"/>
              </a:rPr>
              <a:t>●  </a:t>
            </a:r>
            <a:r>
              <a:rPr sz="2000" b="0" i="0">
                <a:solidFill>
                  <a:srgbClr val="1E293B"/>
                </a:solidFill>
                <a:latin typeface="Meiryo"/>
                <a:ea typeface="Meiryo"/>
                <a:cs typeface="Meiryo"/>
              </a:rPr>
              <a:t>全データ操作を所有者IDでスコープ。取得・更新・削除も本人のものだけ</a:t>
            </a:r>
          </a:p>
          <a:p>
            <a:pPr>
              <a:lnSpc>
                <a:spcPct val="115000"/>
              </a:lnSpc>
              <a:spcAft>
                <a:spcPts val="1000"/>
              </a:spcAft>
            </a:pPr>
            <a:r>
              <a:rPr sz="1400" b="1" i="0">
                <a:solidFill>
                  <a:srgbClr val="2563EB"/>
                </a:solidFill>
                <a:latin typeface="Meiryo"/>
                <a:ea typeface="Meiryo"/>
                <a:cs typeface="Meiryo"/>
              </a:rPr>
              <a:t>●  </a:t>
            </a:r>
            <a:r>
              <a:rPr sz="2000" b="0" i="0">
                <a:solidFill>
                  <a:srgbClr val="1E293B"/>
                </a:solidFill>
                <a:latin typeface="Meiryo"/>
                <a:ea typeface="Meiryo"/>
                <a:cs typeface="Meiryo"/>
              </a:rPr>
              <a:t>PostgreSQL では外部キー制約でも整合性を担保（二重の防御）</a:t>
            </a:r>
          </a:p>
          <a:p>
            <a:pPr>
              <a:lnSpc>
                <a:spcPct val="115000"/>
              </a:lnSpc>
              <a:spcAft>
                <a:spcPts val="1000"/>
              </a:spcAft>
            </a:pPr>
            <a:r>
              <a:rPr sz="1400" b="1" i="0">
                <a:solidFill>
                  <a:srgbClr val="2563EB"/>
                </a:solidFill>
                <a:latin typeface="Meiryo"/>
                <a:ea typeface="Meiryo"/>
                <a:cs typeface="Meiryo"/>
              </a:rPr>
              <a:t>●  </a:t>
            </a:r>
            <a:r>
              <a:rPr sz="2000" b="0" i="0">
                <a:solidFill>
                  <a:srgbClr val="1E293B"/>
                </a:solidFill>
                <a:latin typeface="Meiryo"/>
                <a:ea typeface="Meiryo"/>
                <a:cs typeface="Meiryo"/>
              </a:rPr>
              <a:t>「他人のIDを指定しても 404」をテストで保証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nchor="t">
            <a:spAutoFit/>
          </a:bodyPr>
          <a:lstStyle/>
          <a:p>
            <a:pPr>
              <a:lnSpc>
                <a:spcPct val="115000"/>
              </a:lnSpc>
              <a:spcAft>
                <a:spcPts val="1000"/>
              </a:spcAft>
            </a:pPr>
            <a:r>
              <a:rPr sz="3000" b="1" i="0">
                <a:solidFill>
                  <a:srgbClr val="1E293B"/>
                </a:solidFill>
                <a:latin typeface="Meiryo"/>
                <a:ea typeface="Meiryo"/>
                <a:cs typeface="Meiryo"/>
              </a:rPr>
              <a:t>工夫③ 実運用を意識した品質づくり</a:t>
            </a:r>
          </a:p>
        </p:txBody>
      </p:sp>
      <p:sp>
        <p:nvSpPr>
          <p:cNvPr id="4" name="Rectangle 3"/>
          <p:cNvSpPr/>
          <p:nvPr/>
        </p:nvSpPr>
        <p:spPr>
          <a:xfrm>
            <a:off x="658368" y="1325880"/>
            <a:ext cx="20116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9144000" cy="365760"/>
          </a:xfrm>
          <a:prstGeom prst="rect">
            <a:avLst/>
          </a:prstGeom>
          <a:noFill/>
        </p:spPr>
        <p:txBody>
          <a:bodyPr wrap="square" anchor="t">
            <a:spAutoFit/>
          </a:bodyPr>
          <a:lstStyle/>
          <a:p>
            <a:pPr>
              <a:lnSpc>
                <a:spcPct val="115000"/>
              </a:lnSpc>
              <a:spcAft>
                <a:spcPts val="1000"/>
              </a:spcAft>
            </a:pPr>
            <a:r>
              <a:rPr sz="1100" b="0" i="0">
                <a:solidFill>
                  <a:srgbClr val="64748B"/>
                </a:solidFill>
                <a:latin typeface="Meiryo"/>
                <a:ea typeface="Meiryo"/>
                <a:cs typeface="Meiryo"/>
              </a:rPr>
              <a:t>タスク管理アプリ</a:t>
            </a:r>
          </a:p>
        </p:txBody>
      </p:sp>
      <p:sp>
        <p:nvSpPr>
          <p:cNvPr id="6" name="TextBox 5"/>
          <p:cNvSpPr txBox="1"/>
          <p:nvPr/>
        </p:nvSpPr>
        <p:spPr>
          <a:xfrm>
            <a:off x="11094415" y="6400800"/>
            <a:ext cx="731520" cy="365760"/>
          </a:xfrm>
          <a:prstGeom prst="rect">
            <a:avLst/>
          </a:prstGeom>
          <a:noFill/>
        </p:spPr>
        <p:txBody>
          <a:bodyPr wrap="square" anchor="t">
            <a:spAutoFit/>
          </a:bodyPr>
          <a:lstStyle/>
          <a:p>
            <a:pPr algn="r">
              <a:lnSpc>
                <a:spcPct val="115000"/>
              </a:lnSpc>
              <a:spcAft>
                <a:spcPts val="1000"/>
              </a:spcAft>
            </a:pPr>
            <a:r>
              <a:rPr sz="1100" b="0" i="0">
                <a:solidFill>
                  <a:srgbClr val="64748B"/>
                </a:solidFill>
                <a:latin typeface="Meiryo"/>
                <a:ea typeface="Meiryo"/>
                <a:cs typeface="Meiryo"/>
              </a:rPr>
              <a:t>7 / 10</a:t>
            </a:r>
          </a:p>
        </p:txBody>
      </p:sp>
      <p:sp>
        <p:nvSpPr>
          <p:cNvPr id="7" name="TextBox 6"/>
          <p:cNvSpPr txBox="1"/>
          <p:nvPr/>
        </p:nvSpPr>
        <p:spPr>
          <a:xfrm>
            <a:off x="822960" y="1645920"/>
            <a:ext cx="10515600" cy="4572000"/>
          </a:xfrm>
          <a:prstGeom prst="rect">
            <a:avLst/>
          </a:prstGeom>
          <a:noFill/>
        </p:spPr>
        <p:txBody>
          <a:bodyPr wrap="square" anchor="t">
            <a:spAutoFit/>
          </a:bodyPr>
          <a:lstStyle/>
          <a:p>
            <a:pPr>
              <a:lnSpc>
                <a:spcPct val="115000"/>
              </a:lnSpc>
              <a:spcAft>
                <a:spcPts val="1600"/>
              </a:spcAft>
            </a:pPr>
            <a:r>
              <a:rPr sz="2200" b="1" i="0">
                <a:solidFill>
                  <a:srgbClr val="1E293B"/>
                </a:solidFill>
                <a:latin typeface="Meiryo"/>
                <a:ea typeface="Meiryo"/>
                <a:cs typeface="Meiryo"/>
              </a:rPr>
              <a:t>「壊れていないこと」を仕組みで担保した。</a:t>
            </a:r>
          </a:p>
          <a:p>
            <a:pPr>
              <a:lnSpc>
                <a:spcPct val="115000"/>
              </a:lnSpc>
              <a:spcAft>
                <a:spcPts val="1000"/>
              </a:spcAft>
            </a:pPr>
            <a:r>
              <a:rPr sz="1400" b="1" i="0">
                <a:solidFill>
                  <a:srgbClr val="2563EB"/>
                </a:solidFill>
                <a:latin typeface="Meiryo"/>
                <a:ea typeface="Meiryo"/>
                <a:cs typeface="Meiryo"/>
              </a:rPr>
              <a:t>●  </a:t>
            </a:r>
            <a:r>
              <a:rPr sz="2000" b="0" i="0">
                <a:solidFill>
                  <a:srgbClr val="1E293B"/>
                </a:solidFill>
                <a:latin typeface="Meiryo"/>
                <a:ea typeface="Meiryo"/>
                <a:cs typeface="Meiryo"/>
              </a:rPr>
              <a:t>テスト 71 件（単体・契約・API結合・E2E）／カバレッジ 82% を CI で強制</a:t>
            </a:r>
          </a:p>
          <a:p>
            <a:pPr>
              <a:lnSpc>
                <a:spcPct val="115000"/>
              </a:lnSpc>
              <a:spcAft>
                <a:spcPts val="1000"/>
              </a:spcAft>
            </a:pPr>
            <a:r>
              <a:rPr sz="1400" b="1" i="0">
                <a:solidFill>
                  <a:srgbClr val="2563EB"/>
                </a:solidFill>
                <a:latin typeface="Meiryo"/>
                <a:ea typeface="Meiryo"/>
                <a:cs typeface="Meiryo"/>
              </a:rPr>
              <a:t>●  </a:t>
            </a:r>
            <a:r>
              <a:rPr sz="2000" b="0" i="0">
                <a:solidFill>
                  <a:srgbClr val="1E293B"/>
                </a:solidFill>
                <a:latin typeface="Meiryo"/>
                <a:ea typeface="Meiryo"/>
                <a:cs typeface="Meiryo"/>
              </a:rPr>
              <a:t>GitHub Actions で 型チェック→Lint→テスト→ビルド を自動実行</a:t>
            </a:r>
          </a:p>
          <a:p>
            <a:pPr>
              <a:lnSpc>
                <a:spcPct val="115000"/>
              </a:lnSpc>
              <a:spcAft>
                <a:spcPts val="1000"/>
              </a:spcAft>
            </a:pPr>
            <a:r>
              <a:rPr sz="1400" b="1" i="0">
                <a:solidFill>
                  <a:srgbClr val="2563EB"/>
                </a:solidFill>
                <a:latin typeface="Meiryo"/>
                <a:ea typeface="Meiryo"/>
                <a:cs typeface="Meiryo"/>
              </a:rPr>
              <a:t>●  </a:t>
            </a:r>
            <a:r>
              <a:rPr sz="2000" b="0" i="0">
                <a:solidFill>
                  <a:srgbClr val="1E293B"/>
                </a:solidFill>
                <a:latin typeface="Meiryo"/>
                <a:ea typeface="Meiryo"/>
                <a:cs typeface="Meiryo"/>
              </a:rPr>
              <a:t>セキュリティ：CSP 等のヘッダ、レート制限、CodeQL・Dependabot</a:t>
            </a:r>
          </a:p>
          <a:p>
            <a:pPr>
              <a:lnSpc>
                <a:spcPct val="115000"/>
              </a:lnSpc>
              <a:spcAft>
                <a:spcPts val="1000"/>
              </a:spcAft>
            </a:pPr>
            <a:r>
              <a:rPr sz="1400" b="1" i="0">
                <a:solidFill>
                  <a:srgbClr val="2563EB"/>
                </a:solidFill>
                <a:latin typeface="Meiryo"/>
                <a:ea typeface="Meiryo"/>
                <a:cs typeface="Meiryo"/>
              </a:rPr>
              <a:t>●  </a:t>
            </a:r>
            <a:r>
              <a:rPr sz="2000" b="0" i="0">
                <a:solidFill>
                  <a:srgbClr val="1E293B"/>
                </a:solidFill>
                <a:latin typeface="Meiryo"/>
                <a:ea typeface="Meiryo"/>
                <a:cs typeface="Meiryo"/>
              </a:rPr>
              <a:t>観測性：構造化ログ・リクエストID・ヘルスチェック（/api/health）</a:t>
            </a:r>
          </a:p>
          <a:p>
            <a:pPr>
              <a:lnSpc>
                <a:spcPct val="115000"/>
              </a:lnSpc>
              <a:spcAft>
                <a:spcPts val="1000"/>
              </a:spcAft>
            </a:pPr>
            <a:r>
              <a:rPr sz="1400" b="1" i="0">
                <a:solidFill>
                  <a:srgbClr val="2563EB"/>
                </a:solidFill>
                <a:latin typeface="Meiryo"/>
                <a:ea typeface="Meiryo"/>
                <a:cs typeface="Meiryo"/>
              </a:rPr>
              <a:t>●  </a:t>
            </a:r>
            <a:r>
              <a:rPr sz="2000" b="0" i="0">
                <a:solidFill>
                  <a:srgbClr val="1E293B"/>
                </a:solidFill>
                <a:latin typeface="Meiryo"/>
                <a:ea typeface="Meiryo"/>
                <a:cs typeface="Meiryo"/>
              </a:rPr>
              <a:t>Docker でどこでも起動できる（standalone ビルド）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nchor="t">
            <a:spAutoFit/>
          </a:bodyPr>
          <a:lstStyle/>
          <a:p>
            <a:pPr>
              <a:lnSpc>
                <a:spcPct val="115000"/>
              </a:lnSpc>
              <a:spcAft>
                <a:spcPts val="1000"/>
              </a:spcAft>
            </a:pPr>
            <a:r>
              <a:rPr sz="3000" b="1" i="0">
                <a:solidFill>
                  <a:srgbClr val="1E293B"/>
                </a:solidFill>
                <a:latin typeface="Meiryo"/>
                <a:ea typeface="Meiryo"/>
                <a:cs typeface="Meiryo"/>
              </a:rPr>
              <a:t>技術スタック</a:t>
            </a:r>
          </a:p>
        </p:txBody>
      </p:sp>
      <p:sp>
        <p:nvSpPr>
          <p:cNvPr id="4" name="Rectangle 3"/>
          <p:cNvSpPr/>
          <p:nvPr/>
        </p:nvSpPr>
        <p:spPr>
          <a:xfrm>
            <a:off x="658368" y="1325880"/>
            <a:ext cx="20116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9144000" cy="365760"/>
          </a:xfrm>
          <a:prstGeom prst="rect">
            <a:avLst/>
          </a:prstGeom>
          <a:noFill/>
        </p:spPr>
        <p:txBody>
          <a:bodyPr wrap="square" anchor="t">
            <a:spAutoFit/>
          </a:bodyPr>
          <a:lstStyle/>
          <a:p>
            <a:pPr>
              <a:lnSpc>
                <a:spcPct val="115000"/>
              </a:lnSpc>
              <a:spcAft>
                <a:spcPts val="1000"/>
              </a:spcAft>
            </a:pPr>
            <a:r>
              <a:rPr sz="1100" b="0" i="0">
                <a:solidFill>
                  <a:srgbClr val="64748B"/>
                </a:solidFill>
                <a:latin typeface="Meiryo"/>
                <a:ea typeface="Meiryo"/>
                <a:cs typeface="Meiryo"/>
              </a:rPr>
              <a:t>タスク管理アプリ</a:t>
            </a:r>
          </a:p>
        </p:txBody>
      </p:sp>
      <p:sp>
        <p:nvSpPr>
          <p:cNvPr id="6" name="TextBox 5"/>
          <p:cNvSpPr txBox="1"/>
          <p:nvPr/>
        </p:nvSpPr>
        <p:spPr>
          <a:xfrm>
            <a:off x="11094415" y="6400800"/>
            <a:ext cx="731520" cy="365760"/>
          </a:xfrm>
          <a:prstGeom prst="rect">
            <a:avLst/>
          </a:prstGeom>
          <a:noFill/>
        </p:spPr>
        <p:txBody>
          <a:bodyPr wrap="square" anchor="t">
            <a:spAutoFit/>
          </a:bodyPr>
          <a:lstStyle/>
          <a:p>
            <a:pPr algn="r">
              <a:lnSpc>
                <a:spcPct val="115000"/>
              </a:lnSpc>
              <a:spcAft>
                <a:spcPts val="1000"/>
              </a:spcAft>
            </a:pPr>
            <a:r>
              <a:rPr sz="1100" b="0" i="0">
                <a:solidFill>
                  <a:srgbClr val="64748B"/>
                </a:solidFill>
                <a:latin typeface="Meiryo"/>
                <a:ea typeface="Meiryo"/>
                <a:cs typeface="Meiryo"/>
              </a:rPr>
              <a:t>8 / 10</a:t>
            </a:r>
          </a:p>
        </p:txBody>
      </p:sp>
      <p:graphicFrame>
        <p:nvGraphicFramePr>
          <p:cNvPr id="7" name="Table 6"/>
          <p:cNvGraphicFramePr>
            <a:graphicFrameLocks noGrp="1"/>
          </p:cNvGraphicFramePr>
          <p:nvPr/>
        </p:nvGraphicFramePr>
        <p:xfrm>
          <a:off x="822960" y="1691640"/>
          <a:ext cx="10515600" cy="4206240"/>
        </p:xfrm>
        <a:graphic>
          <a:graphicData uri="http://schemas.openxmlformats.org/drawingml/2006/table">
            <a:tbl>
              <a:tblPr firstRow="1" bandRow="1">
                <a:tableStyleId>{5C22544A-7EE6-4342-B048-85BDC9FD1C3A}</a:tableStyleId>
              </a:tblPr>
              <a:tblGrid>
                <a:gridCol w="3108960"/>
                <a:gridCol w="7406640"/>
              </a:tblGrid>
              <a:tr h="525780">
                <a:tc>
                  <a:txBody>
                    <a:bodyPr wrap="square"/>
                    <a:lstStyle/>
                    <a:p>
                      <a:r>
                        <a:rPr sz="1600" b="1" i="0">
                          <a:solidFill>
                            <a:srgbClr val="FFFFFF"/>
                          </a:solidFill>
                          <a:latin typeface="Meiryo"/>
                          <a:ea typeface="Meiryo"/>
                          <a:cs typeface="Meiryo"/>
                        </a:rPr>
                        <a:t>領域</a:t>
                      </a:r>
                    </a:p>
                  </a:txBody>
                  <a:tcPr marL="137160" marT="45720" marB="45720" anchor="ctr">
                    <a:solidFill>
                      <a:srgbClr val="1E293B"/>
                    </a:solidFill>
                  </a:tcPr>
                </a:tc>
                <a:tc>
                  <a:txBody>
                    <a:bodyPr wrap="square"/>
                    <a:lstStyle/>
                    <a:p>
                      <a:r>
                        <a:rPr sz="1600" b="1" i="0">
                          <a:solidFill>
                            <a:srgbClr val="FFFFFF"/>
                          </a:solidFill>
                          <a:latin typeface="Meiryo"/>
                          <a:ea typeface="Meiryo"/>
                          <a:cs typeface="Meiryo"/>
                        </a:rPr>
                        <a:t>採用技術</a:t>
                      </a:r>
                    </a:p>
                  </a:txBody>
                  <a:tcPr marL="137160" marT="45720" marB="45720" anchor="ctr">
                    <a:solidFill>
                      <a:srgbClr val="1E293B"/>
                    </a:solidFill>
                  </a:tcPr>
                </a:tc>
              </a:tr>
              <a:tr h="525780">
                <a:tc>
                  <a:txBody>
                    <a:bodyPr wrap="square"/>
                    <a:lstStyle/>
                    <a:p>
                      <a:r>
                        <a:rPr sz="1600" b="1" i="0">
                          <a:solidFill>
                            <a:srgbClr val="1E293B"/>
                          </a:solidFill>
                          <a:latin typeface="Meiryo"/>
                          <a:ea typeface="Meiryo"/>
                          <a:cs typeface="Meiryo"/>
                        </a:rPr>
                        <a:t>フレームワーク</a:t>
                      </a:r>
                    </a:p>
                  </a:txBody>
                  <a:tcPr marL="137160" marT="45720" marB="45720" anchor="ctr">
                    <a:solidFill>
                      <a:srgbClr val="FFFFFF"/>
                    </a:solidFill>
                  </a:tcPr>
                </a:tc>
                <a:tc>
                  <a:txBody>
                    <a:bodyPr wrap="square"/>
                    <a:lstStyle/>
                    <a:p>
                      <a:r>
                        <a:rPr sz="1600" b="0" i="0">
                          <a:solidFill>
                            <a:srgbClr val="1E293B"/>
                          </a:solidFill>
                          <a:latin typeface="Meiryo"/>
                          <a:ea typeface="Meiryo"/>
                          <a:cs typeface="Meiryo"/>
                        </a:rPr>
                        <a:t>Next.js 14（App Router / Route Handlers）</a:t>
                      </a:r>
                    </a:p>
                  </a:txBody>
                  <a:tcPr marL="137160" marT="45720" marB="45720" anchor="ctr">
                    <a:solidFill>
                      <a:srgbClr val="FFFFFF"/>
                    </a:solidFill>
                  </a:tcPr>
                </a:tc>
              </a:tr>
              <a:tr h="525780">
                <a:tc>
                  <a:txBody>
                    <a:bodyPr wrap="square"/>
                    <a:lstStyle/>
                    <a:p>
                      <a:r>
                        <a:rPr sz="1600" b="1" i="0">
                          <a:solidFill>
                            <a:srgbClr val="1E293B"/>
                          </a:solidFill>
                          <a:latin typeface="Meiryo"/>
                          <a:ea typeface="Meiryo"/>
                          <a:cs typeface="Meiryo"/>
                        </a:rPr>
                        <a:t>言語</a:t>
                      </a:r>
                    </a:p>
                  </a:txBody>
                  <a:tcPr marL="137160" marT="45720" marB="45720" anchor="ctr">
                    <a:solidFill>
                      <a:srgbClr val="F1F5F9"/>
                    </a:solidFill>
                  </a:tcPr>
                </a:tc>
                <a:tc>
                  <a:txBody>
                    <a:bodyPr wrap="square"/>
                    <a:lstStyle/>
                    <a:p>
                      <a:r>
                        <a:rPr sz="1600" b="0" i="0">
                          <a:solidFill>
                            <a:srgbClr val="1E293B"/>
                          </a:solidFill>
                          <a:latin typeface="Meiryo"/>
                          <a:ea typeface="Meiryo"/>
                          <a:cs typeface="Meiryo"/>
                        </a:rPr>
                        <a:t>TypeScript（strict）</a:t>
                      </a:r>
                    </a:p>
                  </a:txBody>
                  <a:tcPr marL="137160" marT="45720" marB="45720" anchor="ctr">
                    <a:solidFill>
                      <a:srgbClr val="F1F5F9"/>
                    </a:solidFill>
                  </a:tcPr>
                </a:tc>
              </a:tr>
              <a:tr h="525780">
                <a:tc>
                  <a:txBody>
                    <a:bodyPr wrap="square"/>
                    <a:lstStyle/>
                    <a:p>
                      <a:r>
                        <a:rPr sz="1600" b="1" i="0">
                          <a:solidFill>
                            <a:srgbClr val="1E293B"/>
                          </a:solidFill>
                          <a:latin typeface="Meiryo"/>
                          <a:ea typeface="Meiryo"/>
                          <a:cs typeface="Meiryo"/>
                        </a:rPr>
                        <a:t>認証</a:t>
                      </a:r>
                    </a:p>
                  </a:txBody>
                  <a:tcPr marL="137160" marT="45720" marB="45720" anchor="ctr">
                    <a:solidFill>
                      <a:srgbClr val="FFFFFF"/>
                    </a:solidFill>
                  </a:tcPr>
                </a:tc>
                <a:tc>
                  <a:txBody>
                    <a:bodyPr wrap="square"/>
                    <a:lstStyle/>
                    <a:p>
                      <a:r>
                        <a:rPr sz="1600" b="0" i="0">
                          <a:solidFill>
                            <a:srgbClr val="1E293B"/>
                          </a:solidFill>
                          <a:latin typeface="Meiryo"/>
                          <a:ea typeface="Meiryo"/>
                          <a:cs typeface="Meiryo"/>
                        </a:rPr>
                        <a:t>Auth.js（NextAuth v5）＋ scrypt</a:t>
                      </a:r>
                    </a:p>
                  </a:txBody>
                  <a:tcPr marL="137160" marT="45720" marB="45720" anchor="ctr">
                    <a:solidFill>
                      <a:srgbClr val="FFFFFF"/>
                    </a:solidFill>
                  </a:tcPr>
                </a:tc>
              </a:tr>
              <a:tr h="525780">
                <a:tc>
                  <a:txBody>
                    <a:bodyPr wrap="square"/>
                    <a:lstStyle/>
                    <a:p>
                      <a:r>
                        <a:rPr sz="1600" b="1" i="0">
                          <a:solidFill>
                            <a:srgbClr val="1E293B"/>
                          </a:solidFill>
                          <a:latin typeface="Meiryo"/>
                          <a:ea typeface="Meiryo"/>
                          <a:cs typeface="Meiryo"/>
                        </a:rPr>
                        <a:t>データベース</a:t>
                      </a:r>
                    </a:p>
                  </a:txBody>
                  <a:tcPr marL="137160" marT="45720" marB="45720" anchor="ctr">
                    <a:solidFill>
                      <a:srgbClr val="F1F5F9"/>
                    </a:solidFill>
                  </a:tcPr>
                </a:tc>
                <a:tc>
                  <a:txBody>
                    <a:bodyPr wrap="square"/>
                    <a:lstStyle/>
                    <a:p>
                      <a:r>
                        <a:rPr sz="1600" b="0" i="0">
                          <a:solidFill>
                            <a:srgbClr val="1E293B"/>
                          </a:solidFill>
                          <a:latin typeface="Meiryo"/>
                          <a:ea typeface="Meiryo"/>
                          <a:cs typeface="Meiryo"/>
                        </a:rPr>
                        <a:t>PostgreSQL ＋ Drizzle ORM（本番）／ JSON・メモリ</a:t>
                      </a:r>
                    </a:p>
                  </a:txBody>
                  <a:tcPr marL="137160" marT="45720" marB="45720" anchor="ctr">
                    <a:solidFill>
                      <a:srgbClr val="F1F5F9"/>
                    </a:solidFill>
                  </a:tcPr>
                </a:tc>
              </a:tr>
              <a:tr h="525780">
                <a:tc>
                  <a:txBody>
                    <a:bodyPr wrap="square"/>
                    <a:lstStyle/>
                    <a:p>
                      <a:r>
                        <a:rPr sz="1600" b="1" i="0">
                          <a:solidFill>
                            <a:srgbClr val="1E293B"/>
                          </a:solidFill>
                          <a:latin typeface="Meiryo"/>
                          <a:ea typeface="Meiryo"/>
                          <a:cs typeface="Meiryo"/>
                        </a:rPr>
                        <a:t>テスト</a:t>
                      </a:r>
                    </a:p>
                  </a:txBody>
                  <a:tcPr marL="137160" marT="45720" marB="45720" anchor="ctr">
                    <a:solidFill>
                      <a:srgbClr val="FFFFFF"/>
                    </a:solidFill>
                  </a:tcPr>
                </a:tc>
                <a:tc>
                  <a:txBody>
                    <a:bodyPr wrap="square"/>
                    <a:lstStyle/>
                    <a:p>
                      <a:r>
                        <a:rPr sz="1600" b="0" i="0">
                          <a:solidFill>
                            <a:srgbClr val="1E293B"/>
                          </a:solidFill>
                          <a:latin typeface="Meiryo"/>
                          <a:ea typeface="Meiryo"/>
                          <a:cs typeface="Meiryo"/>
                        </a:rPr>
                        <a:t>Vitest ＋ PGlite ＋ Playwright（E2E）</a:t>
                      </a:r>
                    </a:p>
                  </a:txBody>
                  <a:tcPr marL="137160" marT="45720" marB="45720" anchor="ctr">
                    <a:solidFill>
                      <a:srgbClr val="FFFFFF"/>
                    </a:solidFill>
                  </a:tcPr>
                </a:tc>
              </a:tr>
              <a:tr h="525780">
                <a:tc>
                  <a:txBody>
                    <a:bodyPr wrap="square"/>
                    <a:lstStyle/>
                    <a:p>
                      <a:r>
                        <a:rPr sz="1600" b="1" i="0">
                          <a:solidFill>
                            <a:srgbClr val="1E293B"/>
                          </a:solidFill>
                          <a:latin typeface="Meiryo"/>
                          <a:ea typeface="Meiryo"/>
                          <a:cs typeface="Meiryo"/>
                        </a:rPr>
                        <a:t>スタイル</a:t>
                      </a:r>
                    </a:p>
                  </a:txBody>
                  <a:tcPr marL="137160" marT="45720" marB="45720" anchor="ctr">
                    <a:solidFill>
                      <a:srgbClr val="F1F5F9"/>
                    </a:solidFill>
                  </a:tcPr>
                </a:tc>
                <a:tc>
                  <a:txBody>
                    <a:bodyPr wrap="square"/>
                    <a:lstStyle/>
                    <a:p>
                      <a:r>
                        <a:rPr sz="1600" b="0" i="0">
                          <a:solidFill>
                            <a:srgbClr val="1E293B"/>
                          </a:solidFill>
                          <a:latin typeface="Meiryo"/>
                          <a:ea typeface="Meiryo"/>
                          <a:cs typeface="Meiryo"/>
                        </a:rPr>
                        <a:t>Tailwind CSS</a:t>
                      </a:r>
                    </a:p>
                  </a:txBody>
                  <a:tcPr marL="137160" marT="45720" marB="45720" anchor="ctr">
                    <a:solidFill>
                      <a:srgbClr val="F1F5F9"/>
                    </a:solidFill>
                  </a:tcPr>
                </a:tc>
              </a:tr>
              <a:tr h="525780">
                <a:tc>
                  <a:txBody>
                    <a:bodyPr wrap="square"/>
                    <a:lstStyle/>
                    <a:p>
                      <a:r>
                        <a:rPr sz="1600" b="1" i="0">
                          <a:solidFill>
                            <a:srgbClr val="1E293B"/>
                          </a:solidFill>
                          <a:latin typeface="Meiryo"/>
                          <a:ea typeface="Meiryo"/>
                          <a:cs typeface="Meiryo"/>
                        </a:rPr>
                        <a:t>CI / 配布</a:t>
                      </a:r>
                    </a:p>
                  </a:txBody>
                  <a:tcPr marL="137160" marT="45720" marB="45720" anchor="ctr">
                    <a:solidFill>
                      <a:srgbClr val="FFFFFF"/>
                    </a:solidFill>
                  </a:tcPr>
                </a:tc>
                <a:tc>
                  <a:txBody>
                    <a:bodyPr wrap="square"/>
                    <a:lstStyle/>
                    <a:p>
                      <a:r>
                        <a:rPr sz="1600" b="0" i="0">
                          <a:solidFill>
                            <a:srgbClr val="1E293B"/>
                          </a:solidFill>
                          <a:latin typeface="Meiryo"/>
                          <a:ea typeface="Meiryo"/>
                          <a:cs typeface="Meiryo"/>
                        </a:rPr>
                        <a:t>GitHub Actions・CodeQL・Docker</a:t>
                      </a:r>
                    </a:p>
                  </a:txBody>
                  <a:tcPr marL="137160" marT="45720" marB="4572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nchor="t">
            <a:spAutoFit/>
          </a:bodyPr>
          <a:lstStyle/>
          <a:p>
            <a:pPr>
              <a:lnSpc>
                <a:spcPct val="115000"/>
              </a:lnSpc>
              <a:spcAft>
                <a:spcPts val="1000"/>
              </a:spcAft>
            </a:pPr>
            <a:r>
              <a:rPr sz="3000" b="1" i="0">
                <a:solidFill>
                  <a:srgbClr val="1E293B"/>
                </a:solidFill>
                <a:latin typeface="Meiryo"/>
                <a:ea typeface="Meiryo"/>
                <a:cs typeface="Meiryo"/>
              </a:rPr>
              <a:t>苦労した点・学んだこと・今後</a:t>
            </a:r>
          </a:p>
        </p:txBody>
      </p:sp>
      <p:sp>
        <p:nvSpPr>
          <p:cNvPr id="4" name="Rectangle 3"/>
          <p:cNvSpPr/>
          <p:nvPr/>
        </p:nvSpPr>
        <p:spPr>
          <a:xfrm>
            <a:off x="658368" y="1325880"/>
            <a:ext cx="20116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9144000" cy="365760"/>
          </a:xfrm>
          <a:prstGeom prst="rect">
            <a:avLst/>
          </a:prstGeom>
          <a:noFill/>
        </p:spPr>
        <p:txBody>
          <a:bodyPr wrap="square" anchor="t">
            <a:spAutoFit/>
          </a:bodyPr>
          <a:lstStyle/>
          <a:p>
            <a:pPr>
              <a:lnSpc>
                <a:spcPct val="115000"/>
              </a:lnSpc>
              <a:spcAft>
                <a:spcPts val="1000"/>
              </a:spcAft>
            </a:pPr>
            <a:r>
              <a:rPr sz="1100" b="0" i="0">
                <a:solidFill>
                  <a:srgbClr val="64748B"/>
                </a:solidFill>
                <a:latin typeface="Meiryo"/>
                <a:ea typeface="Meiryo"/>
                <a:cs typeface="Meiryo"/>
              </a:rPr>
              <a:t>タスク管理アプリ</a:t>
            </a:r>
          </a:p>
        </p:txBody>
      </p:sp>
      <p:sp>
        <p:nvSpPr>
          <p:cNvPr id="6" name="TextBox 5"/>
          <p:cNvSpPr txBox="1"/>
          <p:nvPr/>
        </p:nvSpPr>
        <p:spPr>
          <a:xfrm>
            <a:off x="11094415" y="6400800"/>
            <a:ext cx="731520" cy="365760"/>
          </a:xfrm>
          <a:prstGeom prst="rect">
            <a:avLst/>
          </a:prstGeom>
          <a:noFill/>
        </p:spPr>
        <p:txBody>
          <a:bodyPr wrap="square" anchor="t">
            <a:spAutoFit/>
          </a:bodyPr>
          <a:lstStyle/>
          <a:p>
            <a:pPr algn="r">
              <a:lnSpc>
                <a:spcPct val="115000"/>
              </a:lnSpc>
              <a:spcAft>
                <a:spcPts val="1000"/>
              </a:spcAft>
            </a:pPr>
            <a:r>
              <a:rPr sz="1100" b="0" i="0">
                <a:solidFill>
                  <a:srgbClr val="64748B"/>
                </a:solidFill>
                <a:latin typeface="Meiryo"/>
                <a:ea typeface="Meiryo"/>
                <a:cs typeface="Meiryo"/>
              </a:rPr>
              <a:t>9 / 10</a:t>
            </a:r>
          </a:p>
        </p:txBody>
      </p:sp>
      <p:sp>
        <p:nvSpPr>
          <p:cNvPr id="7" name="TextBox 6"/>
          <p:cNvSpPr txBox="1"/>
          <p:nvPr/>
        </p:nvSpPr>
        <p:spPr>
          <a:xfrm>
            <a:off x="822960" y="1645920"/>
            <a:ext cx="10515600" cy="4572000"/>
          </a:xfrm>
          <a:prstGeom prst="rect">
            <a:avLst/>
          </a:prstGeom>
          <a:noFill/>
        </p:spPr>
        <p:txBody>
          <a:bodyPr wrap="square" anchor="t">
            <a:spAutoFit/>
          </a:bodyPr>
          <a:lstStyle/>
          <a:p>
            <a:pPr>
              <a:lnSpc>
                <a:spcPct val="115000"/>
              </a:lnSpc>
              <a:spcAft>
                <a:spcPts val="1000"/>
              </a:spcAft>
            </a:pPr>
            <a:r>
              <a:rPr sz="2000" b="1" i="0">
                <a:solidFill>
                  <a:srgbClr val="2563EB"/>
                </a:solidFill>
                <a:latin typeface="Meiryo"/>
                <a:ea typeface="Meiryo"/>
                <a:cs typeface="Meiryo"/>
              </a:rPr>
              <a:t>苦労した点・学び</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ドラッグ＆ドロップの状態管理。直感的に動かすため再描画の最適化に苦労した</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「保存方法を後から変えられる設計」の大切さ（最初は JSON、後から DB へ）</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テストがあると安心して機能追加できると実感した</a:t>
            </a:r>
          </a:p>
          <a:p>
            <a:pPr>
              <a:lnSpc>
                <a:spcPct val="115000"/>
              </a:lnSpc>
              <a:spcAft>
                <a:spcPts val="1000"/>
              </a:spcAft>
            </a:pPr>
            <a:r>
              <a:rPr sz="2000" b="1" i="0">
                <a:solidFill>
                  <a:srgbClr val="2563EB"/>
                </a:solidFill>
                <a:latin typeface="Meiryo"/>
                <a:ea typeface="Meiryo"/>
                <a:cs typeface="Meiryo"/>
              </a:rPr>
              <a:t>今後やりたいこと</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通知・繰り返しタスク、チームでの共有、スマホ対応の強化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nchor="t">
            <a:spAutoFit/>
          </a:bodyPr>
          <a:lstStyle/>
          <a:p>
            <a:pPr>
              <a:lnSpc>
                <a:spcPct val="115000"/>
              </a:lnSpc>
              <a:spcAft>
                <a:spcPts val="1000"/>
              </a:spcAft>
            </a:pPr>
            <a:r>
              <a:rPr sz="3000" b="1" i="0">
                <a:solidFill>
                  <a:srgbClr val="1E293B"/>
                </a:solidFill>
                <a:latin typeface="Meiryo"/>
                <a:ea typeface="Meiryo"/>
                <a:cs typeface="Meiryo"/>
              </a:rPr>
              <a:t>参考にしたサイト・参考文献</a:t>
            </a:r>
          </a:p>
        </p:txBody>
      </p:sp>
      <p:sp>
        <p:nvSpPr>
          <p:cNvPr id="4" name="Rectangle 3"/>
          <p:cNvSpPr/>
          <p:nvPr/>
        </p:nvSpPr>
        <p:spPr>
          <a:xfrm>
            <a:off x="658368" y="1325880"/>
            <a:ext cx="20116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9144000" cy="365760"/>
          </a:xfrm>
          <a:prstGeom prst="rect">
            <a:avLst/>
          </a:prstGeom>
          <a:noFill/>
        </p:spPr>
        <p:txBody>
          <a:bodyPr wrap="square" anchor="t">
            <a:spAutoFit/>
          </a:bodyPr>
          <a:lstStyle/>
          <a:p>
            <a:pPr>
              <a:lnSpc>
                <a:spcPct val="115000"/>
              </a:lnSpc>
              <a:spcAft>
                <a:spcPts val="1000"/>
              </a:spcAft>
            </a:pPr>
            <a:r>
              <a:rPr sz="1100" b="0" i="0">
                <a:solidFill>
                  <a:srgbClr val="64748B"/>
                </a:solidFill>
                <a:latin typeface="Meiryo"/>
                <a:ea typeface="Meiryo"/>
                <a:cs typeface="Meiryo"/>
              </a:rPr>
              <a:t>タスク管理アプリ</a:t>
            </a:r>
          </a:p>
        </p:txBody>
      </p:sp>
      <p:sp>
        <p:nvSpPr>
          <p:cNvPr id="6" name="TextBox 5"/>
          <p:cNvSpPr txBox="1"/>
          <p:nvPr/>
        </p:nvSpPr>
        <p:spPr>
          <a:xfrm>
            <a:off x="11094415" y="6400800"/>
            <a:ext cx="731520" cy="365760"/>
          </a:xfrm>
          <a:prstGeom prst="rect">
            <a:avLst/>
          </a:prstGeom>
          <a:noFill/>
        </p:spPr>
        <p:txBody>
          <a:bodyPr wrap="square" anchor="t">
            <a:spAutoFit/>
          </a:bodyPr>
          <a:lstStyle/>
          <a:p>
            <a:pPr algn="r">
              <a:lnSpc>
                <a:spcPct val="115000"/>
              </a:lnSpc>
              <a:spcAft>
                <a:spcPts val="1000"/>
              </a:spcAft>
            </a:pPr>
            <a:r>
              <a:rPr sz="1100" b="0" i="0">
                <a:solidFill>
                  <a:srgbClr val="64748B"/>
                </a:solidFill>
                <a:latin typeface="Meiryo"/>
                <a:ea typeface="Meiryo"/>
                <a:cs typeface="Meiryo"/>
              </a:rPr>
              <a:t>10 / 10</a:t>
            </a:r>
          </a:p>
        </p:txBody>
      </p:sp>
      <p:sp>
        <p:nvSpPr>
          <p:cNvPr id="7" name="TextBox 6"/>
          <p:cNvSpPr txBox="1"/>
          <p:nvPr/>
        </p:nvSpPr>
        <p:spPr>
          <a:xfrm>
            <a:off x="822960" y="1645920"/>
            <a:ext cx="10515600" cy="4572000"/>
          </a:xfrm>
          <a:prstGeom prst="rect">
            <a:avLst/>
          </a:prstGeom>
          <a:noFill/>
        </p:spPr>
        <p:txBody>
          <a:bodyPr wrap="square" anchor="t">
            <a:spAutoFit/>
          </a:bodyPr>
          <a:lstStyle/>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Next.js 公式ドキュメント ― https://nextjs.org/docs</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Auth.js（NextAuth）公式 ― https://authjs.dev</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Drizzle ORM 公式 ― https://orm.drizzle.team</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TypeScript 公式ハンドブック ― https://www.typescriptlang.org/docs</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Tailwind CSS 公式 ― https://tailwindcss.com/docs</a:t>
            </a:r>
          </a:p>
          <a:p>
            <a:pPr>
              <a:lnSpc>
                <a:spcPct val="115000"/>
              </a:lnSpc>
              <a:spcAft>
                <a:spcPts val="1000"/>
              </a:spcAft>
            </a:pPr>
            <a:r>
              <a:rPr sz="1330" b="1" i="0">
                <a:solidFill>
                  <a:srgbClr val="2563EB"/>
                </a:solidFill>
                <a:latin typeface="Meiryo"/>
                <a:ea typeface="Meiryo"/>
                <a:cs typeface="Meiryo"/>
              </a:rPr>
              <a:t>●  </a:t>
            </a:r>
            <a:r>
              <a:rPr sz="1900" b="0" i="0">
                <a:solidFill>
                  <a:srgbClr val="1E293B"/>
                </a:solidFill>
                <a:latin typeface="Meiryo"/>
                <a:ea typeface="Meiryo"/>
                <a:cs typeface="Meiryo"/>
              </a:rPr>
              <a:t>MDN Web Docs ― https://developer.mozilla.org/ja/</a:t>
            </a:r>
          </a:p>
          <a:p>
            <a:pPr>
              <a:lnSpc>
                <a:spcPct val="115000"/>
              </a:lnSpc>
              <a:spcAft>
                <a:spcPts val="400"/>
              </a:spcAft>
            </a:pPr>
            <a:r>
              <a:rPr sz="1400" b="0" i="0">
                <a:solidFill>
                  <a:srgbClr val="64748B"/>
                </a:solidFill>
                <a:latin typeface="Meiryo"/>
                <a:ea typeface="Meiryo"/>
                <a:cs typeface="Meiryo"/>
              </a:rPr>
              <a:t>※ 各サイトの最終アクセス日：【記入してください】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